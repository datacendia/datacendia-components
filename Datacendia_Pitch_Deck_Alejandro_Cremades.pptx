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45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DATACENDIA</a:t>
            </a:r>
          </a:p>
          <a:p>
            <a:pPr algn="ctr">
              <a:defRPr sz="2400">
                <a:solidFill>
                  <a:srgbClr val="D4AF37"/>
                </a:solidFill>
              </a:defRPr>
            </a:pPr>
            <a:r>
              <a:t>Sovereign Enterprise Intelligence Platform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</a:defRPr>
            </a:pPr>
            <a:r>
              <a:t>Regulated industries are locked out of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• Enterprise AI is a black box — regulators can't audit it, boards can't explain it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• Cloud AI vendors have custody of your data (CLOUD Act exposure, vendor lock-in)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• Existing BI shows what happened — not what to do about it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• No audit trail = no accountability = no trust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• Banks, defense, healthcare, legal firms CANNOT use cloud AI for sensitive decisions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The Solution: Sovereign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</a:defRPr>
            </a:pPr>
            <a:r>
              <a:t>Not BI. Not another AI API. A decision layer that proves why it decided what it decided.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• AI that runs on YOUR infrastructure (on-prem, private cloud, air-gapped)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• Encryption keys stay in YOUR KMS/HSM — we never see your data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• Every decision logged to an immutable ledger YOU control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• Cryptographically signed decision packets for regulators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• Multi-agent deliberation: 45 specialized AI agents debate like a boardroom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Platform Metrics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-169163" y="2011680"/>
            <a:ext cx="2286000" cy="3200400"/>
          </a:xfrm>
          <a:prstGeom prst="roundRect">
            <a:avLst/>
          </a:prstGeom>
          <a:solidFill>
            <a:srgbClr val="282828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-169163" y="2286000"/>
            <a:ext cx="228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D4AF37"/>
                </a:solidFill>
              </a:defRPr>
            </a:pPr>
            <a:r>
              <a:t>1,464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-169163" y="329184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Automated Tests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-169163" y="384048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B4B4B4"/>
                </a:solidFill>
              </a:defRPr>
            </a:pPr>
            <a:r>
              <a:t>100% pass rate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91156" y="2011680"/>
            <a:ext cx="2286000" cy="3200400"/>
          </a:xfrm>
          <a:prstGeom prst="roundRect">
            <a:avLst/>
          </a:prstGeom>
          <a:solidFill>
            <a:srgbClr val="282828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91156" y="2286000"/>
            <a:ext cx="228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D4AF37"/>
                </a:solidFill>
              </a:defRPr>
            </a:pPr>
            <a:r>
              <a:t>45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91156" y="329184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Council Agents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91156" y="384048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B4B4B4"/>
                </a:solidFill>
              </a:defRPr>
            </a:pPr>
            <a:r>
              <a:t>CEO, CFO, CISO, Legal...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51476" y="2011680"/>
            <a:ext cx="2286000" cy="3200400"/>
          </a:xfrm>
          <a:prstGeom prst="roundRect">
            <a:avLst/>
          </a:prstGeom>
          <a:solidFill>
            <a:srgbClr val="282828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51476" y="2286000"/>
            <a:ext cx="228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D4AF37"/>
                </a:solidFill>
              </a:defRPr>
            </a:pPr>
            <a:r>
              <a:t>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51476" y="329184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Security Tests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51476" y="384048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B4B4B4"/>
                </a:solidFill>
              </a:defRPr>
            </a:pPr>
            <a:r>
              <a:t>OWASP LLM Top 10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11796" y="2011680"/>
            <a:ext cx="2286000" cy="3200400"/>
          </a:xfrm>
          <a:prstGeom prst="roundRect">
            <a:avLst/>
          </a:prstGeom>
          <a:solidFill>
            <a:srgbClr val="282828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11796" y="2286000"/>
            <a:ext cx="228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D4AF37"/>
                </a:solidFill>
              </a:defRPr>
            </a:pPr>
            <a:r>
              <a:t>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11796" y="329184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Languages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11796" y="384048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B4B4B4"/>
                </a:solidFill>
              </a:defRPr>
            </a:pPr>
            <a:r>
              <a:t>Full i18n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072116" y="2011680"/>
            <a:ext cx="2286000" cy="3200400"/>
          </a:xfrm>
          <a:prstGeom prst="roundRect">
            <a:avLst/>
          </a:prstGeom>
          <a:solidFill>
            <a:srgbClr val="282828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72116" y="2286000"/>
            <a:ext cx="228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D4AF37"/>
                </a:solidFill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72116" y="329184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Deploy Modes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72116" y="384048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B4B4B4"/>
                </a:solidFill>
              </a:defRPr>
            </a:pPr>
            <a:r>
              <a:t>Cloud/Private/On-Prem/Air-Gap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Core Products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The Council™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14+ specialized agents deliberate on decisions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CFO, CISO, Risk, Strategy, Legal, Red Team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Not a chatbot — a boardroom debate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Structured dissent &amp; minority opinions logged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Cryptographic signatures on every decision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2801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CendiaChronos™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8288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Enterprise Time Machine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Simulate divergent futures before committing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What-if scenario modeling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Pivotal moment detection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Timeline visualization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The Trust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</a:defRPr>
            </a:pPr>
            <a:r>
              <a:t>When the auditor asks 'Why?', hand them this.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• Decision DNA™ — Immutable audit trail with cryptographic proof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• Regulator's Receipt — One-click evidence packets for auditors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• CendiaCrucible™ — Adversarial stress testing (red-team your own AI)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• CendiaOversight™ — Compliance monitoring (SOC 2, HIPAA, NIST 800-53)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• CendiaDissent™ — Formal dissent filing with retaliation protection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Four Target Verticals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Legal &amp; Law Firms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12-step legal decision workflow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Matter Lead, Research Counsel, Litigation Strategist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Privilege &amp; confidentiality protection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ABA Model Rules compliance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Regulator's Receipt for court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2801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Healthcare &amp; Pharma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8288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FDA 21 CFR Part 11 compliant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Clinical trial decision support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HIPAA-aligned architecture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Genomics integration ready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IRB-ready evidence packets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Four Target Verticals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Financial 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SOC 2 aligned architecture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Investment committee workflows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Risk assessment with dissent tracking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Regulatory compliance (SEC, FINRA)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Zero-copy data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2801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Government &amp; Defense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8288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Air-gapped deployment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NIST 800-53 controls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FedRAMP-ready architecture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TPM hardware attestation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Classified environment support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11 Sovereign Architecture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</a:defRPr>
            </a:pPr>
            <a:r>
              <a:t>Enterprise-grade patterns for the most demanding environments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• Data Diode — Unidirectional data ingest with quarantine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• Local RLHF — Zero-cloud reinforcement learning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• QR Air-Gap Bridge — Animated QR for zero-media transfer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• TPM Attestation — Hardware-signed decisions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• Time-Lock Crypto — Embargoed decisions with cryptographic release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• Federated Mesh — Multi-site learning via sneakernet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• Portable USB Instance — Bootable deployment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Market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</a:defRPr>
            </a:pPr>
            <a:r>
              <a:t>Regulated industries are desperate for AI they can actually 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• Enterprise AI software market: $297.9B by 2027 (Gartner, 19.1% CAGR)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• Government sector: Largest AI spend at $70B+ by 2027 (Gartner)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• 85% of executives say compliance has become more complex in 3 years (PwC 2025)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• Gap: No sovereign, auditable, multi-agent decision platform exists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• First-mover advantage in 'Explainable Sovereign AI' category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</a:defRPr>
            </a:pPr>
            <a:r>
              <a:t>Pricing from datacendia.com/pricing.html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• Sandbox Wargame: $5,000 (2-week technical evaluation)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• Pilot Program: $50,000 (90-day proof of value)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• Department License: $180,000/year + $25K-$75K onboarding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• Enterprise License: Custom annual licensing (multi-department)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• Sovereign Tier: Classified pricing (air-gapped, high-assurance)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• Land &amp; Expand: Pilot → Department → Enterprise → Sovereign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Why We Win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</a:defRPr>
            </a:pPr>
            <a:r>
              <a:t>See next slides for detailed competitor comparisons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• Only platform with TRUE sovereignty (your infra, your keys, your ledger)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• Only platform with multi-agent deliberation (not single-model chatbot)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• Only platform with cryptographic audit trail (Regulator's Receipt)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• Only platform with formal dissent tracking (minority opinions matter)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• Built by enterprise architects, not consumer AI researchers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Datacendia vs Harvey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</a:defRPr>
            </a:pPr>
            <a:r>
              <a:t>Harvey proves the market. Datacendia serves what regulated enterprises need.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• Harvey AI: $8B valuation, $760M raised in 2025, 50 AmLaw 100 firms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• 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• Harvey: Legal ONLY | Datacendia: Legal + Healthcare + Finance + Gov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• Harvey: Cloud ONLY | Datacendia: Cloud + Private + On-Prem + Air-Gap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• Harvey: Single model | Datacendia: 45-agent multi-agent deliberation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• Harvey: No audit trail | Datacendia: Regulator's Receipt (cryptographic)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• Harvey: No dissent | Datacendia: CendiaDissent™ formal tracking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Datacendia vs Palantir: Functionality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</a:defRPr>
            </a:pPr>
            <a:r>
              <a:t>Palantir = data platform. Datacendia = decision intelligence + audit proof.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• PALANTIR STRENGTHS (we acknowledge):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•    • Foundry: Best-in-class data integration &amp; ontology modeling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•    • Gotham: Proven defense/intel platform (20+ years)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•    • AIP: LLM workflows, Agent Studio, massive scale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• 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• DATACENDIA DIFFERENTIATORS: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•    • Multi-agent deliberation (45 agents debate, not single LLM)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•    • Regulator's Receipt (cryptographic audit trail for compliance)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•    • CendiaDissent™ (formal minority opinion tracking)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•    • 90-day pilot vs 6-12 month Palantir deployment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•    • $50K entry vs $1M+ Palantir minimum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Market Positioning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</a:defRPr>
            </a:pPr>
            <a:r>
              <a:t>We don't compete with Palantir. We serve who they can't reach.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• PALANTIR: $100M+ enterprises, government, defense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•    → $423B market cap, $1M+ deals, 6-12 month sales cycles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• 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• HARVEY AI: AmLaw 100 law firms, legal-only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•    → $8B valuation, cloud-only, single vertical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• 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• DATACENDIA: Mid-market regulated enterprises ($10M-$500M)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•    → $50K pilots, 4 verticals, sovereign deployment options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•    → The 'Palantir for the rest of us' with audit-proof decisions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• Stuart Rainey — Founder &amp; Architect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•    • 8 years as Senior Data Analyst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•    • Masters Degree in Big Data Analytics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•    • Deep expertise in enterprise data systems and AI governance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• 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• Seeking: CTO, VP Sales, VP Customer Success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Current Status &amp;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• ✓ DONE: Full platform built (1,464 tests, 45 agents, 4 deploy modes)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• ✓ DONE: Live demo at datacendia.com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• → Q1 2026: First 3 pilot customers (Legal, Healthcare, Finance)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• → Q2 2026: SOC 2 Type II certification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• → Q3 2026: First Fortune 500 enterprise customer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• → Q4 2026: $1M ARR milestone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45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The Ask</a:t>
            </a:r>
          </a:p>
          <a:p>
            <a:pPr algn="ctr">
              <a:defRPr sz="2400">
                <a:solidFill>
                  <a:srgbClr val="D4AF37"/>
                </a:solidFill>
              </a:defRPr>
            </a:pPr>
            <a:r>
              <a:t>Seed Round: $1.5M - $2M USD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Use of Funds ($1.75M midpoint, 18-month runway)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• Engineering (35% / $612K) — 2 senior engineers @ $150K/yr each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• Sales &amp; Marketing (25% / $437K) — 1 enterprise sales + marketing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• Compliance &amp; Certs (15% / $262K) — SOC 2 Type II, ISO 27001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• Infrastructure (10% / $175K) — Cloud, hosting, dev tools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• Legal &amp; Admin (5% / $87K) — Legal, accounting, insurance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• Founder Salary (10% / $90K) — $5,000/month × 18 months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• 1. Gartner (Aug 2025). 'AI Agent Enterprise Forecast.'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•    → 40% of enterprise apps will embed AI agents by 2026 (up from &lt;5%)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• 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• 2. IBM (2025). 'Cost of a Data Breach Report.'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•    → 97% of AI breaches lacked access controls; 63% lacked governance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• 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• 3. PRNewswire/Iron Software (Sept 2025). 'Data Sovereignty Revolution.'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•    → 300% surge in enterprise demand for air-gapped AI solutions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• 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• 4. CRN/Xpert Digital (2025). 'Cloud Outage Costs.'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•    → Azure ($16B), AWS ($581M), Cloudflare ($250M+) — 2025 alone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• 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• 5. Clio (2024). 'Law Firm Data Breach Report.'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•    → Law firm breach cost: $5.08M avg (+10% YoY)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45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Let's Talk</a:t>
            </a:r>
          </a:p>
          <a:p>
            <a:pPr algn="ctr">
              <a:defRPr sz="2400">
                <a:solidFill>
                  <a:srgbClr val="D4AF37"/>
                </a:solidFill>
              </a:defRPr>
            </a:pPr>
            <a:r>
              <a:t>contact@datacendia.com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datacendia.com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